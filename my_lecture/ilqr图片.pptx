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58" r:id="rId3"/>
    <p:sldId id="259" r:id="rId4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3174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B4BDF-6146-4421-A582-11B7DEF3CA5F}" type="datetimeFigureOut">
              <a:rPr lang="zh-CN" altLang="en-US" smtClean="0"/>
              <a:t>2024/4/10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E7CA-37E7-4E84-9854-0AAB6BAAFB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7311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B4BDF-6146-4421-A582-11B7DEF3CA5F}" type="datetimeFigureOut">
              <a:rPr lang="zh-CN" altLang="en-US" smtClean="0"/>
              <a:t>2024/4/10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E7CA-37E7-4E84-9854-0AAB6BAAFB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1811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B4BDF-6146-4421-A582-11B7DEF3CA5F}" type="datetimeFigureOut">
              <a:rPr lang="zh-CN" altLang="en-US" smtClean="0"/>
              <a:t>2024/4/10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E7CA-37E7-4E84-9854-0AAB6BAAFB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1382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B4BDF-6146-4421-A582-11B7DEF3CA5F}" type="datetimeFigureOut">
              <a:rPr lang="zh-CN" altLang="en-US" smtClean="0"/>
              <a:t>2024/4/10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E7CA-37E7-4E84-9854-0AAB6BAAFB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4636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B4BDF-6146-4421-A582-11B7DEF3CA5F}" type="datetimeFigureOut">
              <a:rPr lang="zh-CN" altLang="en-US" smtClean="0"/>
              <a:t>2024/4/10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E7CA-37E7-4E84-9854-0AAB6BAAFB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3537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B4BDF-6146-4421-A582-11B7DEF3CA5F}" type="datetimeFigureOut">
              <a:rPr lang="zh-CN" altLang="en-US" smtClean="0"/>
              <a:t>2024/4/10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E7CA-37E7-4E84-9854-0AAB6BAAFB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350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B4BDF-6146-4421-A582-11B7DEF3CA5F}" type="datetimeFigureOut">
              <a:rPr lang="zh-CN" altLang="en-US" smtClean="0"/>
              <a:t>2024/4/10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E7CA-37E7-4E84-9854-0AAB6BAAFB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5733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B4BDF-6146-4421-A582-11B7DEF3CA5F}" type="datetimeFigureOut">
              <a:rPr lang="zh-CN" altLang="en-US" smtClean="0"/>
              <a:t>2024/4/10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E7CA-37E7-4E84-9854-0AAB6BAAFB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0861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B4BDF-6146-4421-A582-11B7DEF3CA5F}" type="datetimeFigureOut">
              <a:rPr lang="zh-CN" altLang="en-US" smtClean="0"/>
              <a:t>2024/4/10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E7CA-37E7-4E84-9854-0AAB6BAAFB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6968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B4BDF-6146-4421-A582-11B7DEF3CA5F}" type="datetimeFigureOut">
              <a:rPr lang="zh-CN" altLang="en-US" smtClean="0"/>
              <a:t>2024/4/10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E7CA-37E7-4E84-9854-0AAB6BAAFB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3048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B4BDF-6146-4421-A582-11B7DEF3CA5F}" type="datetimeFigureOut">
              <a:rPr lang="zh-CN" altLang="en-US" smtClean="0"/>
              <a:t>2024/4/10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E7CA-37E7-4E84-9854-0AAB6BAAFB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371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4B4BDF-6146-4421-A582-11B7DEF3CA5F}" type="datetimeFigureOut">
              <a:rPr lang="zh-CN" altLang="en-US" smtClean="0"/>
              <a:t>2024/4/10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D6E7CA-37E7-4E84-9854-0AAB6BAAFB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5793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0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AE64761-3CF9-B7F2-C3B0-E0FE67FDC6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131" y="4397887"/>
            <a:ext cx="3909739" cy="1110227"/>
          </a:xfrm>
          <a:prstGeom prst="rect">
            <a:avLst/>
          </a:prstGeom>
        </p:spPr>
      </p:pic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69EF3152-1B2A-A946-4B88-5AED80C921A7}"/>
              </a:ext>
            </a:extLst>
          </p:cNvPr>
          <p:cNvCxnSpPr>
            <a:cxnSpLocks/>
          </p:cNvCxnSpPr>
          <p:nvPr/>
        </p:nvCxnSpPr>
        <p:spPr>
          <a:xfrm flipH="1" flipV="1">
            <a:off x="3768730" y="4916753"/>
            <a:ext cx="174839" cy="191897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AA8986FA-904A-7649-D31E-CA8C737A9621}"/>
              </a:ext>
            </a:extLst>
          </p:cNvPr>
          <p:cNvSpPr txBox="1"/>
          <p:nvPr/>
        </p:nvSpPr>
        <p:spPr>
          <a:xfrm>
            <a:off x="3900021" y="5108650"/>
            <a:ext cx="514999" cy="345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23" dirty="0">
                <a:solidFill>
                  <a:schemeClr val="accent2"/>
                </a:solidFill>
              </a:rPr>
              <a:t>初始轨迹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125198C1-CA25-FA96-9074-1988C7816C62}"/>
              </a:ext>
            </a:extLst>
          </p:cNvPr>
          <p:cNvCxnSpPr>
            <a:cxnSpLocks/>
          </p:cNvCxnSpPr>
          <p:nvPr/>
        </p:nvCxnSpPr>
        <p:spPr>
          <a:xfrm flipH="1">
            <a:off x="3572525" y="4397886"/>
            <a:ext cx="196205" cy="212132"/>
          </a:xfrm>
          <a:prstGeom prst="straightConnector1">
            <a:avLst/>
          </a:prstGeom>
          <a:ln w="571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15CB9480-FAE8-AFA2-D50B-78FC2610B36E}"/>
              </a:ext>
            </a:extLst>
          </p:cNvPr>
          <p:cNvSpPr txBox="1"/>
          <p:nvPr/>
        </p:nvSpPr>
        <p:spPr>
          <a:xfrm>
            <a:off x="3800475" y="4322971"/>
            <a:ext cx="614544" cy="2189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23" dirty="0">
                <a:solidFill>
                  <a:schemeClr val="accent1"/>
                </a:solidFill>
              </a:rPr>
              <a:t>迭代轨迹</a:t>
            </a:r>
          </a:p>
        </p:txBody>
      </p:sp>
    </p:spTree>
    <p:extLst>
      <p:ext uri="{BB962C8B-B14F-4D97-AF65-F5344CB8AC3E}">
        <p14:creationId xmlns:p14="http://schemas.microsoft.com/office/powerpoint/2010/main" val="1534027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C923ED7-67F8-A765-3AA4-AB2C00299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497" y="4300479"/>
            <a:ext cx="4878360" cy="1095512"/>
          </a:xfrm>
          <a:prstGeom prst="rect">
            <a:avLst/>
          </a:prstGeom>
        </p:spPr>
      </p:pic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E502FD54-B230-4960-16FE-25DF6EA1B362}"/>
              </a:ext>
            </a:extLst>
          </p:cNvPr>
          <p:cNvCxnSpPr/>
          <p:nvPr/>
        </p:nvCxnSpPr>
        <p:spPr>
          <a:xfrm>
            <a:off x="4131202" y="5395990"/>
            <a:ext cx="0" cy="44613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86B367E0-1D10-3706-A3C5-CB8D1374078A}"/>
              </a:ext>
            </a:extLst>
          </p:cNvPr>
          <p:cNvCxnSpPr/>
          <p:nvPr/>
        </p:nvCxnSpPr>
        <p:spPr>
          <a:xfrm>
            <a:off x="5397723" y="5395990"/>
            <a:ext cx="0" cy="44613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C61FE896-215B-E67B-B96C-B95F6546EF8B}"/>
              </a:ext>
            </a:extLst>
          </p:cNvPr>
          <p:cNvCxnSpPr/>
          <p:nvPr/>
        </p:nvCxnSpPr>
        <p:spPr>
          <a:xfrm>
            <a:off x="4165317" y="5619057"/>
            <a:ext cx="1176970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6904DCDB-F9E1-DABA-3DD3-98C0CB6DC50A}"/>
                  </a:ext>
                </a:extLst>
              </p:cNvPr>
              <p:cNvSpPr txBox="1"/>
              <p:nvPr/>
            </p:nvSpPr>
            <p:spPr>
              <a:xfrm>
                <a:off x="4391330" y="5769630"/>
                <a:ext cx="422174" cy="2189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823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823" i="1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US" altLang="zh-CN" sz="823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823" i="1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altLang="zh-CN" sz="823" i="1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zh-CN" altLang="en-US" sz="823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6904DCDB-F9E1-DABA-3DD3-98C0CB6DC5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1330" y="5769630"/>
                <a:ext cx="422174" cy="21897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99583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箭头: 圆角右 6">
            <a:extLst>
              <a:ext uri="{FF2B5EF4-FFF2-40B4-BE49-F238E27FC236}">
                <a16:creationId xmlns:a16="http://schemas.microsoft.com/office/drawing/2014/main" id="{FDC2EBFF-671C-DCD2-B77F-68C49FBAB537}"/>
              </a:ext>
            </a:extLst>
          </p:cNvPr>
          <p:cNvSpPr/>
          <p:nvPr/>
        </p:nvSpPr>
        <p:spPr>
          <a:xfrm rot="16200000">
            <a:off x="-2650962" y="5331810"/>
            <a:ext cx="7661049" cy="374815"/>
          </a:xfrm>
          <a:prstGeom prst="bentArrow">
            <a:avLst>
              <a:gd name="adj1" fmla="val 25000"/>
              <a:gd name="adj2" fmla="val 28115"/>
              <a:gd name="adj3" fmla="val 25000"/>
              <a:gd name="adj4" fmla="val 4375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38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5D5A725-F2BA-7FA7-D6F5-41A58F107D22}"/>
              </a:ext>
            </a:extLst>
          </p:cNvPr>
          <p:cNvSpPr txBox="1"/>
          <p:nvPr/>
        </p:nvSpPr>
        <p:spPr>
          <a:xfrm>
            <a:off x="191790" y="3452543"/>
            <a:ext cx="1042715" cy="267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38" dirty="0" err="1">
                <a:latin typeface="黑体" panose="02010609060101010101" pitchFamily="49" charset="-122"/>
                <a:ea typeface="黑体" panose="02010609060101010101" pitchFamily="49" charset="-122"/>
              </a:rPr>
              <a:t>iLQR</a:t>
            </a:r>
            <a:r>
              <a:rPr lang="zh-CN" altLang="en-US" sz="1138" dirty="0">
                <a:latin typeface="黑体" panose="02010609060101010101" pitchFamily="49" charset="-122"/>
                <a:ea typeface="黑体" panose="02010609060101010101" pitchFamily="49" charset="-122"/>
              </a:rPr>
              <a:t>大循环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2F7C1931-4AF6-D5FC-6A56-875CD2C321BE}"/>
                  </a:ext>
                </a:extLst>
              </p:cNvPr>
              <p:cNvSpPr txBox="1"/>
              <p:nvPr/>
            </p:nvSpPr>
            <p:spPr>
              <a:xfrm>
                <a:off x="1734484" y="1947926"/>
                <a:ext cx="4947031" cy="2674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138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1. </a:t>
                </a:r>
                <a14:m>
                  <m:oMath xmlns:m="http://schemas.openxmlformats.org/officeDocument/2006/math">
                    <m:r>
                      <a:rPr lang="en-US" altLang="zh-CN" sz="1138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1138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138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1138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138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sz="1138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1138" i="1">
                        <a:latin typeface="Cambria Math" panose="02040503050406030204" pitchFamily="18" charset="0"/>
                      </a:rPr>
                      <m:t>线性</m:t>
                    </m:r>
                  </m:oMath>
                </a14:m>
                <a:r>
                  <a:rPr lang="zh-CN" altLang="en-US" sz="1138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化，计算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138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138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138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zh-CN" sz="1138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1138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138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138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  <m:r>
                      <a:rPr lang="zh-CN" altLang="en-US" sz="1138" i="1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r>
                  <a:rPr lang="zh-CN" altLang="en-US" sz="1138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如果有必要，代价函数</a:t>
                </a:r>
                <a:r>
                  <a:rPr lang="en-US" altLang="zh-CN" sz="1138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c(</a:t>
                </a:r>
                <a:r>
                  <a:rPr lang="en-US" altLang="zh-CN" sz="1138" dirty="0" err="1">
                    <a:latin typeface="黑体" panose="02010609060101010101" pitchFamily="49" charset="-122"/>
                    <a:ea typeface="黑体" panose="02010609060101010101" pitchFamily="49" charset="-122"/>
                  </a:rPr>
                  <a:t>x,u</a:t>
                </a:r>
                <a:r>
                  <a:rPr lang="en-US" altLang="zh-CN" sz="1138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)</a:t>
                </a:r>
                <a:r>
                  <a:rPr lang="zh-CN" altLang="en-US" sz="1138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展开成二次型；</a:t>
                </a:r>
              </a:p>
            </p:txBody>
          </p:sp>
        </mc:Choice>
        <mc:Fallback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2F7C1931-4AF6-D5FC-6A56-875CD2C321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4484" y="1947926"/>
                <a:ext cx="4947031" cy="267446"/>
              </a:xfrm>
              <a:prstGeom prst="rect">
                <a:avLst/>
              </a:prstGeom>
              <a:blipFill>
                <a:blip r:embed="rId2"/>
                <a:stretch>
                  <a:fillRect t="-6977" r="-2959" b="-139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箭头: 圆角右 9">
            <a:extLst>
              <a:ext uri="{FF2B5EF4-FFF2-40B4-BE49-F238E27FC236}">
                <a16:creationId xmlns:a16="http://schemas.microsoft.com/office/drawing/2014/main" id="{EF3AF147-58DE-F4A1-18F9-432FB388CA3F}"/>
              </a:ext>
            </a:extLst>
          </p:cNvPr>
          <p:cNvSpPr/>
          <p:nvPr/>
        </p:nvSpPr>
        <p:spPr>
          <a:xfrm rot="16200000">
            <a:off x="449434" y="3660330"/>
            <a:ext cx="2387111" cy="198228"/>
          </a:xfrm>
          <a:prstGeom prst="bentArrow">
            <a:avLst>
              <a:gd name="adj1" fmla="val 28097"/>
              <a:gd name="adj2" fmla="val 31494"/>
              <a:gd name="adj3" fmla="val 25000"/>
              <a:gd name="adj4" fmla="val 4375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38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E710C4B-DDD0-5ACD-EF3C-43EEE951F884}"/>
              </a:ext>
            </a:extLst>
          </p:cNvPr>
          <p:cNvSpPr txBox="1"/>
          <p:nvPr/>
        </p:nvSpPr>
        <p:spPr>
          <a:xfrm>
            <a:off x="1165860" y="3145159"/>
            <a:ext cx="628650" cy="4425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38" dirty="0" err="1">
                <a:latin typeface="黑体" panose="02010609060101010101" pitchFamily="49" charset="-122"/>
                <a:ea typeface="黑体" panose="02010609060101010101" pitchFamily="49" charset="-122"/>
              </a:rPr>
              <a:t>iLQR</a:t>
            </a:r>
            <a:r>
              <a:rPr lang="zh-CN" altLang="en-US" sz="1138" dirty="0">
                <a:latin typeface="黑体" panose="02010609060101010101" pitchFamily="49" charset="-122"/>
                <a:ea typeface="黑体" panose="02010609060101010101" pitchFamily="49" charset="-122"/>
              </a:rPr>
              <a:t>内循环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50A01EB8-5E17-E210-BB9C-D627105846BF}"/>
                  </a:ext>
                </a:extLst>
              </p:cNvPr>
              <p:cNvSpPr txBox="1"/>
              <p:nvPr/>
            </p:nvSpPr>
            <p:spPr>
              <a:xfrm>
                <a:off x="1770897" y="2491971"/>
                <a:ext cx="4221280" cy="2674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138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2. </a:t>
                </a:r>
                <a14:m>
                  <m:oMath xmlns:m="http://schemas.openxmlformats.org/officeDocument/2006/math">
                    <m:r>
                      <a:rPr lang="zh-CN" altLang="en-US" sz="1138" i="1" dirty="0">
                        <a:latin typeface="Cambria Math" panose="02040503050406030204" pitchFamily="18" charset="0"/>
                      </a:rPr>
                      <m:t>反向传播，</m:t>
                    </m:r>
                    <m:r>
                      <a:rPr lang="en-US" altLang="zh-CN" sz="1138" i="1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1138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138" i="1" dirty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sz="1138" i="1" dirty="0">
                        <a:latin typeface="Cambria Math" panose="02040503050406030204" pitchFamily="18" charset="0"/>
                      </a:rPr>
                      <m:t>→0,</m:t>
                    </m:r>
                    <m:r>
                      <a:rPr lang="zh-CN" altLang="en-US" sz="1138" i="1" dirty="0">
                        <a:latin typeface="Cambria Math" panose="02040503050406030204" pitchFamily="18" charset="0"/>
                      </a:rPr>
                      <m:t>更新反馈增益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138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138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138" i="1" dirty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zh-CN" sz="1138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1138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1138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138" i="1" dirty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zh-CN" sz="1138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1138" i="1" dirty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sz="1138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138" i="1" dirty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zh-CN" sz="1138" i="1" dirty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1138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，</a:t>
                </a: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50A01EB8-5E17-E210-BB9C-D627105846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0897" y="2491971"/>
                <a:ext cx="4221280" cy="267446"/>
              </a:xfrm>
              <a:prstGeom prst="rect">
                <a:avLst/>
              </a:prstGeom>
              <a:blipFill>
                <a:blip r:embed="rId3"/>
                <a:stretch>
                  <a:fillRect t="-4545" b="-113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76723634-F7B8-3A9E-3ADE-DC6B0EDD13AB}"/>
                  </a:ext>
                </a:extLst>
              </p:cNvPr>
              <p:cNvSpPr txBox="1"/>
              <p:nvPr/>
            </p:nvSpPr>
            <p:spPr>
              <a:xfrm>
                <a:off x="1825462" y="5547823"/>
                <a:ext cx="4910618" cy="2674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138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3. </a:t>
                </a:r>
                <a14:m>
                  <m:oMath xmlns:m="http://schemas.openxmlformats.org/officeDocument/2006/math">
                    <m:r>
                      <a:rPr lang="zh-CN" altLang="en-US" sz="1138" i="1" dirty="0">
                        <a:latin typeface="Cambria Math" panose="02040503050406030204" pitchFamily="18" charset="0"/>
                      </a:rPr>
                      <m:t>正向传播，</m:t>
                    </m:r>
                    <m:r>
                      <a:rPr lang="en-US" altLang="zh-CN" sz="1138" i="1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1138" i="1" dirty="0">
                        <a:latin typeface="Cambria Math" panose="02040503050406030204" pitchFamily="18" charset="0"/>
                      </a:rPr>
                      <m:t>=0→</m:t>
                    </m:r>
                    <m:r>
                      <a:rPr lang="en-US" altLang="zh-CN" sz="1138" i="1" dirty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sz="1138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1138" i="1" dirty="0">
                        <a:latin typeface="Cambria Math" panose="02040503050406030204" pitchFamily="18" charset="0"/>
                      </a:rPr>
                      <m:t>使用非线性方程</m:t>
                    </m:r>
                    <m:acc>
                      <m:accPr>
                        <m:chr m:val="̇"/>
                        <m:ctrlPr>
                          <a:rPr lang="zh-CN" altLang="en-US" sz="1138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138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altLang="zh-CN" sz="1138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138" b="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1138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138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1138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138" b="0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sz="1138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1138" i="1" dirty="0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1138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更新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1138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138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138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138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1138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1138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138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138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1138" i="1" dirty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sz="1138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138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138" i="1" dirty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e>
                    </m:d>
                  </m:oMath>
                </a14:m>
                <a:endParaRPr lang="zh-CN" altLang="en-US" sz="1138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76723634-F7B8-3A9E-3ADE-DC6B0EDD13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5462" y="5547823"/>
                <a:ext cx="4910618" cy="267446"/>
              </a:xfrm>
              <a:prstGeom prst="rect">
                <a:avLst/>
              </a:prstGeom>
              <a:blipFill>
                <a:blip r:embed="rId4"/>
                <a:stretch>
                  <a:fillRect t="-4545" b="-1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本框 14">
            <a:extLst>
              <a:ext uri="{FF2B5EF4-FFF2-40B4-BE49-F238E27FC236}">
                <a16:creationId xmlns:a16="http://schemas.microsoft.com/office/drawing/2014/main" id="{A5B29E19-C774-D00F-47E9-C1CBE689CCCD}"/>
              </a:ext>
            </a:extLst>
          </p:cNvPr>
          <p:cNvSpPr txBox="1"/>
          <p:nvPr/>
        </p:nvSpPr>
        <p:spPr>
          <a:xfrm>
            <a:off x="1077799" y="6690860"/>
            <a:ext cx="705243" cy="4425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38" dirty="0" err="1">
                <a:latin typeface="黑体" panose="02010609060101010101" pitchFamily="49" charset="-122"/>
                <a:ea typeface="黑体" panose="02010609060101010101" pitchFamily="49" charset="-122"/>
              </a:rPr>
              <a:t>iLQR</a:t>
            </a:r>
            <a:r>
              <a:rPr lang="zh-CN" altLang="en-US" sz="1138" dirty="0">
                <a:latin typeface="黑体" panose="02010609060101010101" pitchFamily="49" charset="-122"/>
                <a:ea typeface="黑体" panose="02010609060101010101" pitchFamily="49" charset="-122"/>
              </a:rPr>
              <a:t>内循环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FB47E585-57FC-72DC-8050-F7375A699B30}"/>
                  </a:ext>
                </a:extLst>
              </p:cNvPr>
              <p:cNvSpPr txBox="1"/>
              <p:nvPr/>
            </p:nvSpPr>
            <p:spPr>
              <a:xfrm>
                <a:off x="1734484" y="1567454"/>
                <a:ext cx="2954915" cy="2674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138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0. </a:t>
                </a:r>
                <a14:m>
                  <m:oMath xmlns:m="http://schemas.openxmlformats.org/officeDocument/2006/math">
                    <m:r>
                      <a:rPr lang="zh-CN" altLang="en-US" sz="1138" i="1" dirty="0">
                        <a:latin typeface="Cambria Math" panose="02040503050406030204" pitchFamily="18" charset="0"/>
                      </a:rPr>
                      <m:t>迭代</m:t>
                    </m:r>
                  </m:oMath>
                </a14:m>
                <a:r>
                  <a:rPr lang="zh-CN" altLang="en-US" sz="1138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次数</a:t>
                </a:r>
                <a:r>
                  <a:rPr lang="en-US" altLang="zh-CN" sz="1138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k=0-&gt;M</a:t>
                </a:r>
                <a:r>
                  <a:rPr lang="zh-CN" altLang="en-US" sz="1138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；</a:t>
                </a:r>
              </a:p>
            </p:txBody>
          </p:sp>
        </mc:Choice>
        <mc:Fallback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FB47E585-57FC-72DC-8050-F7375A699B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4484" y="1567454"/>
                <a:ext cx="2954915" cy="267446"/>
              </a:xfrm>
              <a:prstGeom prst="rect">
                <a:avLst/>
              </a:prstGeom>
              <a:blipFill>
                <a:blip r:embed="rId5"/>
                <a:stretch>
                  <a:fillRect t="-4545" b="-1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E6E36E94-E04F-3E84-2678-0C8F14375FD5}"/>
                  </a:ext>
                </a:extLst>
              </p:cNvPr>
              <p:cNvSpPr txBox="1"/>
              <p:nvPr/>
            </p:nvSpPr>
            <p:spPr>
              <a:xfrm>
                <a:off x="1742104" y="8375203"/>
                <a:ext cx="5195445" cy="2707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138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4. </a:t>
                </a:r>
                <a:r>
                  <a:rPr lang="zh-CN" altLang="en-US" sz="1138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计算</a:t>
                </a:r>
                <a14:m>
                  <m:oMath xmlns:m="http://schemas.openxmlformats.org/officeDocument/2006/math">
                    <m:r>
                      <a:rPr lang="zh-CN" altLang="en-US" sz="1138" i="1" dirty="0">
                        <a:latin typeface="Cambria Math" panose="02040503050406030204" pitchFamily="18" charset="0"/>
                      </a:rPr>
                      <m:t>每一次迭代的代价，</m:t>
                    </m:r>
                    <m:sSup>
                      <m:sSupPr>
                        <m:ctrlPr>
                          <a:rPr lang="en-US" altLang="zh-CN" sz="1138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138" i="1" dirty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US" altLang="zh-CN" sz="1138" i="1" dirty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altLang="zh-CN" sz="1138" i="1" dirty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sz="1138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138" i="1" dirty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US" altLang="zh-CN" sz="1138" i="1" dirty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1138" i="1" dirty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r>
                  <a:rPr lang="en-US" altLang="zh-CN" sz="1138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,</a:t>
                </a:r>
                <a:r>
                  <a:rPr lang="zh-CN" altLang="en-US" sz="1138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并计算是否满足收敛标准</a:t>
                </a: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E6E36E94-E04F-3E84-2678-0C8F14375F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2104" y="8375203"/>
                <a:ext cx="5195445" cy="270780"/>
              </a:xfrm>
              <a:prstGeom prst="rect">
                <a:avLst/>
              </a:prstGeom>
              <a:blipFill>
                <a:blip r:embed="rId7"/>
                <a:stretch>
                  <a:fillRect t="-2273" b="-1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图片 22">
            <a:extLst>
              <a:ext uri="{FF2B5EF4-FFF2-40B4-BE49-F238E27FC236}">
                <a16:creationId xmlns:a16="http://schemas.microsoft.com/office/drawing/2014/main" id="{65E5E4CC-39EA-AF65-9842-FF5F81394AC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25462" y="8754973"/>
            <a:ext cx="2403924" cy="836764"/>
          </a:xfrm>
          <a:prstGeom prst="rect">
            <a:avLst/>
          </a:prstGeom>
        </p:spPr>
      </p:pic>
      <p:sp>
        <p:nvSpPr>
          <p:cNvPr id="24" name="矩形 23">
            <a:extLst>
              <a:ext uri="{FF2B5EF4-FFF2-40B4-BE49-F238E27FC236}">
                <a16:creationId xmlns:a16="http://schemas.microsoft.com/office/drawing/2014/main" id="{BF5C8534-B587-DBEB-E02C-85B0E5EE48C3}"/>
              </a:ext>
            </a:extLst>
          </p:cNvPr>
          <p:cNvSpPr/>
          <p:nvPr/>
        </p:nvSpPr>
        <p:spPr>
          <a:xfrm>
            <a:off x="1787362" y="2390111"/>
            <a:ext cx="4506171" cy="2766877"/>
          </a:xfrm>
          <a:prstGeom prst="rect">
            <a:avLst/>
          </a:prstGeom>
          <a:noFill/>
          <a:ln w="9525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38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0DE112B-7426-9668-B5EA-EDD8157115C1}"/>
              </a:ext>
            </a:extLst>
          </p:cNvPr>
          <p:cNvSpPr/>
          <p:nvPr/>
        </p:nvSpPr>
        <p:spPr>
          <a:xfrm>
            <a:off x="1770897" y="5433587"/>
            <a:ext cx="4910618" cy="2704573"/>
          </a:xfrm>
          <a:prstGeom prst="rect">
            <a:avLst/>
          </a:prstGeom>
          <a:noFill/>
          <a:ln w="9525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38"/>
          </a:p>
        </p:txBody>
      </p:sp>
      <p:sp>
        <p:nvSpPr>
          <p:cNvPr id="26" name="箭头: 圆角右 25">
            <a:extLst>
              <a:ext uri="{FF2B5EF4-FFF2-40B4-BE49-F238E27FC236}">
                <a16:creationId xmlns:a16="http://schemas.microsoft.com/office/drawing/2014/main" id="{D5133BC6-A60D-9018-6458-C733F2515955}"/>
              </a:ext>
            </a:extLst>
          </p:cNvPr>
          <p:cNvSpPr/>
          <p:nvPr/>
        </p:nvSpPr>
        <p:spPr>
          <a:xfrm rot="16200000">
            <a:off x="591599" y="6792422"/>
            <a:ext cx="2130094" cy="198228"/>
          </a:xfrm>
          <a:prstGeom prst="bentArrow">
            <a:avLst>
              <a:gd name="adj1" fmla="val 28097"/>
              <a:gd name="adj2" fmla="val 31494"/>
              <a:gd name="adj3" fmla="val 25000"/>
              <a:gd name="adj4" fmla="val 4375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38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59B1996F-6E36-961A-1921-C9B4E57EC18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80104" y="2778214"/>
            <a:ext cx="2954914" cy="227866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4A3FC60F-C94A-D17B-2AE8-AF41B83F179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65225" y="5913075"/>
            <a:ext cx="1481275" cy="455141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B5D6DD5-BE70-AEDA-7577-1C30190208E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74149" y="6477206"/>
            <a:ext cx="1872401" cy="44322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0B2CE76-8AB9-420B-55DF-6EF6ED7ED05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74149" y="7047200"/>
            <a:ext cx="1573951" cy="48908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AA5EE07-D672-52F2-6D10-1C5895CB41A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74149" y="7536282"/>
            <a:ext cx="1872401" cy="529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5500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1678</TotalTime>
  <Words>111</Words>
  <Application>Microsoft Office PowerPoint</Application>
  <PresentationFormat>A4 纸张(210x297 毫米)</PresentationFormat>
  <Paragraphs>11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9" baseType="lpstr">
      <vt:lpstr>黑体</vt:lpstr>
      <vt:lpstr>Arial</vt:lpstr>
      <vt:lpstr>Calibri</vt:lpstr>
      <vt:lpstr>Calibri Light</vt:lpstr>
      <vt:lpstr>Cambria Math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邬 杨明</dc:creator>
  <cp:lastModifiedBy>邬 杨明</cp:lastModifiedBy>
  <cp:revision>7</cp:revision>
  <dcterms:created xsi:type="dcterms:W3CDTF">2024-04-07T13:15:48Z</dcterms:created>
  <dcterms:modified xsi:type="dcterms:W3CDTF">2024-04-10T11:32:17Z</dcterms:modified>
</cp:coreProperties>
</file>